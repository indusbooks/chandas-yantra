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365" y="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i="1" dirty="0"/>
              <a:t>India’s market is being shaped by algorithms, not Indian realities.</a:t>
            </a:r>
            <a:endParaRPr lang="en-IN" sz="3200" dirty="0"/>
          </a:p>
          <a:p>
            <a:pPr algn="ctr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3709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447800"/>
          </a:xfrm>
        </p:spPr>
        <p:txBody>
          <a:bodyPr>
            <a:normAutofit fontScale="90000"/>
          </a:bodyPr>
          <a:lstStyle/>
          <a:p>
            <a:r>
              <a:rPr lang="en-IN" sz="3600" i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Important </a:t>
            </a:r>
            <a:r>
              <a:rPr lang="en-IN" sz="3600" i="1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to bring Local Market into digitization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1143000"/>
            <a:ext cx="8991600" cy="541020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Trade as an Entry Point: </a:t>
            </a:r>
            <a:r>
              <a:rPr lang="en-IN" sz="2600" dirty="0"/>
              <a:t>We all know Portuguese, British, and French Entered the Indian Market in the name of trade. Similarly now we are selling our market in the name of Online</a:t>
            </a:r>
          </a:p>
          <a:p>
            <a:pPr marL="514350" indent="-514350">
              <a:buFont typeface="+mj-lt"/>
              <a:buAutoNum type="arabicPeriod"/>
            </a:pPr>
            <a:endParaRPr lang="en-IN" sz="2600" dirty="0"/>
          </a:p>
          <a:p>
            <a:pPr marL="514350" indent="-514350">
              <a:buFont typeface="+mj-lt"/>
              <a:buAutoNum type="arabicPeriod"/>
            </a:pPr>
            <a:r>
              <a:rPr lang="en-US" sz="2600" b="1" dirty="0" smtClean="0"/>
              <a:t> </a:t>
            </a:r>
            <a:r>
              <a:rPr lang="en-IN" sz="2600" dirty="0" smtClean="0"/>
              <a:t>Many </a:t>
            </a:r>
            <a:r>
              <a:rPr lang="en-IN" sz="2600" dirty="0"/>
              <a:t>top e-commerce website </a:t>
            </a:r>
            <a:r>
              <a:rPr lang="en-IN" sz="2600" dirty="0" smtClean="0"/>
              <a:t> are foreign</a:t>
            </a:r>
            <a:r>
              <a:rPr lang="en-IN" sz="2600" dirty="0"/>
              <a:t> </a:t>
            </a:r>
            <a:r>
              <a:rPr lang="en-IN" sz="2600" dirty="0" smtClean="0"/>
              <a:t>based. Any </a:t>
            </a:r>
            <a:r>
              <a:rPr lang="en-IN" sz="2600" dirty="0"/>
              <a:t>investor </a:t>
            </a:r>
            <a:r>
              <a:rPr lang="en-IN" sz="2600" dirty="0" smtClean="0"/>
              <a:t>looks </a:t>
            </a:r>
            <a:r>
              <a:rPr lang="en-IN" sz="2600" dirty="0"/>
              <a:t>more towards profit making rather than saving and improving </a:t>
            </a:r>
            <a:r>
              <a:rPr lang="en-IN" sz="2600" dirty="0" smtClean="0"/>
              <a:t>traditional </a:t>
            </a:r>
            <a:r>
              <a:rPr lang="en-IN" sz="2600" dirty="0"/>
              <a:t>values along with the market.</a:t>
            </a:r>
          </a:p>
          <a:p>
            <a:pPr marL="514350" indent="-514350">
              <a:buFont typeface="+mj-lt"/>
              <a:buAutoNum type="arabicPeriod"/>
            </a:pPr>
            <a:endParaRPr lang="en-IN" sz="2600" dirty="0"/>
          </a:p>
          <a:p>
            <a:pPr marL="514350" indent="-514350">
              <a:buFont typeface="+mj-lt"/>
              <a:buAutoNum type="arabicPeriod"/>
            </a:pPr>
            <a:r>
              <a:rPr lang="en-IN" sz="2600" b="1" dirty="0"/>
              <a:t>The Illusion of Discounts</a:t>
            </a:r>
            <a:r>
              <a:rPr lang="en-IN" sz="2600" b="1" dirty="0" smtClean="0"/>
              <a:t>: </a:t>
            </a:r>
            <a:r>
              <a:rPr lang="en-IN" sz="2600" dirty="0" smtClean="0"/>
              <a:t>Customer will be attracted towards discounts. Most of the times </a:t>
            </a:r>
            <a:r>
              <a:rPr lang="en-IN" sz="2600" dirty="0" smtClean="0"/>
              <a:t>may  </a:t>
            </a:r>
            <a:r>
              <a:rPr lang="en-IN" sz="2600" dirty="0"/>
              <a:t>not truly a discount, because nothing comes for free. </a:t>
            </a:r>
            <a:endParaRPr lang="en-IN" sz="2600" dirty="0" smtClean="0"/>
          </a:p>
          <a:p>
            <a:pPr marL="514350" indent="-514350">
              <a:buFont typeface="+mj-lt"/>
              <a:buAutoNum type="arabicPeriod"/>
            </a:pPr>
            <a:r>
              <a:rPr lang="en-IN" sz="2600" dirty="0" smtClean="0"/>
              <a:t>I </a:t>
            </a:r>
            <a:r>
              <a:rPr lang="en-IN" sz="2600" dirty="0"/>
              <a:t>also feel that many </a:t>
            </a:r>
            <a:r>
              <a:rPr lang="en-IN" sz="2600" dirty="0" smtClean="0"/>
              <a:t>investors</a:t>
            </a:r>
            <a:r>
              <a:rPr lang="en-IN" sz="2600" dirty="0"/>
              <a:t>, who are unfamiliar with the realities of Indian soil, tend to plan to sell products without fully </a:t>
            </a:r>
            <a:r>
              <a:rPr lang="en-IN" sz="2600" dirty="0" smtClean="0"/>
              <a:t>considering improving  </a:t>
            </a:r>
            <a:r>
              <a:rPr lang="en-IN" sz="2600" dirty="0"/>
              <a:t>the Indian </a:t>
            </a:r>
            <a:r>
              <a:rPr lang="en-IN" sz="2600" dirty="0" smtClean="0"/>
              <a:t>economy and tradition. </a:t>
            </a:r>
            <a:endParaRPr lang="en-IN" sz="2600" dirty="0"/>
          </a:p>
          <a:p>
            <a:pPr marL="0" indent="0">
              <a:buNone/>
            </a:pPr>
            <a:endParaRPr lang="en-IN" dirty="0"/>
          </a:p>
          <a:p>
            <a:pPr marL="857250" lvl="1" indent="-457200"/>
            <a:r>
              <a:rPr lang="en-IN" sz="2600" dirty="0" smtClean="0"/>
              <a:t>Nowadays sales, corrugated our </a:t>
            </a:r>
            <a:r>
              <a:rPr lang="en-IN" sz="2600" dirty="0"/>
              <a:t>market in the name of subscription </a:t>
            </a:r>
          </a:p>
          <a:p>
            <a:pPr marL="857250" lvl="1" indent="-457200"/>
            <a:r>
              <a:rPr lang="en-IN" sz="2600" dirty="0" smtClean="0"/>
              <a:t>Goods sold in our </a:t>
            </a:r>
            <a:r>
              <a:rPr lang="en-IN" sz="2600" dirty="0"/>
              <a:t>market </a:t>
            </a:r>
            <a:r>
              <a:rPr lang="en-IN" sz="2600" dirty="0" smtClean="0"/>
              <a:t>by exaggerating  through the  </a:t>
            </a:r>
            <a:r>
              <a:rPr lang="en-IN" sz="2600" dirty="0"/>
              <a:t>ads</a:t>
            </a:r>
          </a:p>
          <a:p>
            <a:pPr marL="857250" lvl="1" indent="-457200"/>
            <a:r>
              <a:rPr lang="en-IN" sz="2600" dirty="0" smtClean="0"/>
              <a:t>challenging the market </a:t>
            </a:r>
            <a:r>
              <a:rPr lang="en-IN" sz="2600" dirty="0"/>
              <a:t>in the name of offers</a:t>
            </a:r>
          </a:p>
          <a:p>
            <a:pPr marL="857250" lvl="1" indent="-457200"/>
            <a:r>
              <a:rPr lang="en-IN" sz="2600" dirty="0" smtClean="0"/>
              <a:t>geographically  </a:t>
            </a:r>
            <a:r>
              <a:rPr lang="en-IN" sz="2600" dirty="0"/>
              <a:t>Collecting </a:t>
            </a:r>
            <a:r>
              <a:rPr lang="en-IN" sz="2600" dirty="0" smtClean="0"/>
              <a:t> and  processing the </a:t>
            </a:r>
            <a:r>
              <a:rPr lang="en-IN" sz="2600" dirty="0"/>
              <a:t>customer </a:t>
            </a:r>
            <a:r>
              <a:rPr lang="en-IN" sz="2600" dirty="0" smtClean="0"/>
              <a:t>data to overturn the future market</a:t>
            </a:r>
            <a:endParaRPr lang="en-IN" sz="2600" dirty="0"/>
          </a:p>
          <a:p>
            <a:pPr marL="400050" lvl="1" indent="0">
              <a:buNone/>
            </a:pPr>
            <a:endParaRPr lang="en-US" sz="3200" dirty="0"/>
          </a:p>
          <a:p>
            <a:pPr marL="400050" lvl="1" indent="0">
              <a:buNone/>
            </a:pP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79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 the </a:t>
            </a:r>
            <a:r>
              <a:rPr lang="en-IN" dirty="0" smtClean="0"/>
              <a:t>product algorithm of many e commerce websites, even today  are inaccessible </a:t>
            </a:r>
            <a:r>
              <a:rPr lang="en-IN" dirty="0"/>
              <a:t>including inventory </a:t>
            </a:r>
            <a:r>
              <a:rPr lang="en-IN" dirty="0" smtClean="0"/>
              <a:t>management because foreign investors selling Indian goods at large. </a:t>
            </a:r>
            <a:endParaRPr lang="en-IN" dirty="0"/>
          </a:p>
          <a:p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IN" b="1" dirty="0" smtClean="0"/>
              <a:t>Commission Driven Visibility: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Product </a:t>
            </a:r>
            <a:r>
              <a:rPr lang="en-IN" dirty="0"/>
              <a:t>ads, </a:t>
            </a:r>
            <a:r>
              <a:rPr lang="en-IN" dirty="0" smtClean="0"/>
              <a:t>promotions, </a:t>
            </a:r>
            <a:r>
              <a:rPr lang="en-IN" dirty="0"/>
              <a:t>search engine optimization</a:t>
            </a:r>
            <a:r>
              <a:rPr lang="en-IN" dirty="0" smtClean="0"/>
              <a:t>,  and offers - which turned Indian </a:t>
            </a:r>
            <a:r>
              <a:rPr lang="en-IN" dirty="0"/>
              <a:t>market into promotional market </a:t>
            </a:r>
            <a:r>
              <a:rPr lang="en-IN" dirty="0" smtClean="0"/>
              <a:t>and these  promotions </a:t>
            </a:r>
            <a:r>
              <a:rPr lang="en-IN" dirty="0"/>
              <a:t>can be done only by the </a:t>
            </a:r>
            <a:r>
              <a:rPr lang="en-IN" dirty="0" smtClean="0"/>
              <a:t>Influencer elites</a:t>
            </a:r>
          </a:p>
          <a:p>
            <a:pPr marL="800100" lvl="1" indent="-342900">
              <a:buFont typeface="+mj-lt"/>
              <a:buAutoNum type="arabicPeriod"/>
            </a:pPr>
            <a:endParaRPr lang="en-IN" b="1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Algorithmic Control </a:t>
            </a:r>
            <a:r>
              <a:rPr lang="en-US" b="1" dirty="0" smtClean="0"/>
              <a:t>: </a:t>
            </a:r>
            <a:r>
              <a:rPr lang="en-IN" dirty="0" smtClean="0"/>
              <a:t>Product </a:t>
            </a:r>
            <a:r>
              <a:rPr lang="en-IN" dirty="0"/>
              <a:t>algorithm </a:t>
            </a:r>
            <a:r>
              <a:rPr lang="en-IN" dirty="0" smtClean="0"/>
              <a:t> of subscription model can - boost, promote the  </a:t>
            </a:r>
            <a:r>
              <a:rPr lang="en-IN" dirty="0"/>
              <a:t>views and </a:t>
            </a:r>
            <a:r>
              <a:rPr lang="en-IN" dirty="0" smtClean="0"/>
              <a:t>likes of masses,  which can </a:t>
            </a:r>
            <a:r>
              <a:rPr lang="en-IN" dirty="0"/>
              <a:t>be handled or </a:t>
            </a:r>
            <a:r>
              <a:rPr lang="en-IN" dirty="0" smtClean="0"/>
              <a:t>tampered towards  making the market ridiculous.</a:t>
            </a:r>
          </a:p>
          <a:p>
            <a:pPr marL="800100" lvl="1" indent="-342900">
              <a:buFont typeface="+mj-lt"/>
              <a:buAutoNum type="arabicPeriod"/>
            </a:pPr>
            <a:endParaRPr lang="en-IN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Price Wars Through Private </a:t>
            </a:r>
            <a:r>
              <a:rPr lang="en-US" b="1" dirty="0" smtClean="0"/>
              <a:t>Labels: </a:t>
            </a:r>
            <a:r>
              <a:rPr lang="en-IN" dirty="0" smtClean="0"/>
              <a:t>grocery selling </a:t>
            </a:r>
            <a:r>
              <a:rPr lang="en-US" b="1" dirty="0" smtClean="0"/>
              <a:t>O</a:t>
            </a:r>
            <a:r>
              <a:rPr lang="en-IN" dirty="0" smtClean="0"/>
              <a:t>n-line </a:t>
            </a:r>
            <a:r>
              <a:rPr lang="en-IN" dirty="0"/>
              <a:t>e-commerce </a:t>
            </a:r>
            <a:r>
              <a:rPr lang="en-IN" dirty="0" smtClean="0"/>
              <a:t>stores, which are in </a:t>
            </a:r>
            <a:r>
              <a:rPr lang="en-IN" dirty="0"/>
              <a:t>Indian </a:t>
            </a:r>
            <a:r>
              <a:rPr lang="en-IN" dirty="0" smtClean="0"/>
              <a:t>market,   </a:t>
            </a:r>
            <a:r>
              <a:rPr lang="en-IN" dirty="0"/>
              <a:t>playing </a:t>
            </a:r>
            <a:r>
              <a:rPr lang="en-IN" dirty="0" smtClean="0"/>
              <a:t>the game </a:t>
            </a:r>
            <a:r>
              <a:rPr lang="en-IN" dirty="0"/>
              <a:t>of price fixing </a:t>
            </a:r>
            <a:r>
              <a:rPr lang="en-IN" dirty="0" smtClean="0"/>
              <a:t>by giving  offers  in many ways  for their gains.</a:t>
            </a:r>
          </a:p>
          <a:p>
            <a:pPr marL="800100" lvl="1" indent="-342900">
              <a:buFont typeface="+mj-lt"/>
              <a:buAutoNum type="arabicPeriod"/>
            </a:pPr>
            <a:endParaRPr lang="en-IN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Festivals Used as Sales </a:t>
            </a:r>
            <a:r>
              <a:rPr lang="en-US" b="1" dirty="0" smtClean="0"/>
              <a:t>Tools: </a:t>
            </a:r>
            <a:r>
              <a:rPr lang="en-IN" dirty="0" smtClean="0"/>
              <a:t>Instead </a:t>
            </a:r>
            <a:r>
              <a:rPr lang="en-IN" dirty="0"/>
              <a:t>of organic selling, consumers are being influenced to buy products in the name of </a:t>
            </a:r>
            <a:r>
              <a:rPr lang="en-IN" dirty="0" smtClean="0"/>
              <a:t> festival offers where Indian festival is not their concern. </a:t>
            </a:r>
          </a:p>
          <a:p>
            <a:pPr marL="800100" lvl="1" indent="-342900">
              <a:buFont typeface="+mj-lt"/>
              <a:buAutoNum type="arabicPeriod"/>
            </a:pP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46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i="1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India </a:t>
            </a:r>
            <a:r>
              <a:rPr lang="en-US" sz="3600" i="1" dirty="0" err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en-US" sz="3600" i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600" i="1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for</a:t>
            </a:r>
            <a:endParaRPr lang="en-IN" sz="3600" i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67640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Self-Sufficient Food </a:t>
            </a:r>
            <a:r>
              <a:rPr lang="en-IN" b="1" dirty="0" smtClean="0"/>
              <a:t>Culture: </a:t>
            </a:r>
            <a:r>
              <a:rPr lang="en-IN" dirty="0" smtClean="0"/>
              <a:t>Every </a:t>
            </a:r>
            <a:r>
              <a:rPr lang="en-IN" dirty="0"/>
              <a:t>state in India has its own staple foods and spices, and the availability of staple </a:t>
            </a:r>
            <a:r>
              <a:rPr lang="en-IN" dirty="0" smtClean="0"/>
              <a:t>foods </a:t>
            </a:r>
            <a:r>
              <a:rPr lang="en-IN" dirty="0"/>
              <a:t>has not been an issue in India</a:t>
            </a:r>
            <a:r>
              <a:rPr lang="en-IN" dirty="0" smtClean="0"/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 smtClean="0"/>
              <a:t>Handloom Legacy: </a:t>
            </a:r>
            <a:r>
              <a:rPr lang="en-IN" dirty="0" smtClean="0"/>
              <a:t>Earlier </a:t>
            </a:r>
            <a:r>
              <a:rPr lang="en-IN" dirty="0"/>
              <a:t>in Indian history, India was known for its rich handloom/textile tradition, but today handloom artisans are struggling to survive due to low income, limited support, lack of promotion, and intense brand competition</a:t>
            </a:r>
            <a:r>
              <a:rPr lang="en-IN" dirty="0" smtClean="0"/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 smtClean="0"/>
              <a:t>Indigenous </a:t>
            </a:r>
            <a:r>
              <a:rPr lang="en-US" b="1" dirty="0"/>
              <a:t>Knowledge </a:t>
            </a:r>
            <a:r>
              <a:rPr lang="en-US" b="1" dirty="0" smtClean="0"/>
              <a:t>Systems: </a:t>
            </a:r>
            <a:r>
              <a:rPr lang="en-IN" dirty="0" smtClean="0"/>
              <a:t>India </a:t>
            </a:r>
            <a:r>
              <a:rPr lang="en-IN" dirty="0"/>
              <a:t>was known for its knowledge, traditional, culture and Ayurvedic system</a:t>
            </a:r>
            <a:r>
              <a:rPr lang="en-IN" dirty="0" smtClean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 A</a:t>
            </a:r>
            <a:r>
              <a:rPr lang="en-IN" dirty="0" smtClean="0"/>
              <a:t>nd many more</a:t>
            </a:r>
            <a:endParaRPr lang="en-IN" dirty="0" smtClean="0"/>
          </a:p>
          <a:p>
            <a:pPr lvl="0"/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61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i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SWADESHI AND encouragement</a:t>
            </a:r>
            <a:r>
              <a:rPr lang="en-IN" dirty="0">
                <a:effectLst/>
              </a:rPr>
              <a:t/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0" y="99060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Agriculture </a:t>
            </a:r>
            <a:r>
              <a:rPr lang="en-IN" b="1" dirty="0" smtClean="0"/>
              <a:t> and Need</a:t>
            </a:r>
            <a:r>
              <a:rPr lang="en-IN" dirty="0" smtClean="0"/>
              <a:t>: Agriculture </a:t>
            </a:r>
            <a:r>
              <a:rPr lang="en-IN" dirty="0"/>
              <a:t>is the backbone of our country, </a:t>
            </a:r>
            <a:r>
              <a:rPr lang="en-IN" dirty="0" smtClean="0"/>
              <a:t>Despite </a:t>
            </a:r>
            <a:r>
              <a:rPr lang="en-IN" dirty="0"/>
              <a:t>government </a:t>
            </a:r>
            <a:r>
              <a:rPr lang="en-IN" dirty="0" smtClean="0"/>
              <a:t>subsidies</a:t>
            </a:r>
            <a:r>
              <a:rPr lang="en-IN" dirty="0"/>
              <a:t> </a:t>
            </a:r>
            <a:r>
              <a:rPr lang="en-IN" dirty="0" smtClean="0"/>
              <a:t> there are problems still need to resolve  and more such things still persists.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Rising Cost of Basic </a:t>
            </a:r>
            <a:r>
              <a:rPr lang="en-US" b="1" dirty="0" smtClean="0"/>
              <a:t>Living</a:t>
            </a:r>
            <a:r>
              <a:rPr lang="en-US" dirty="0" smtClean="0"/>
              <a:t>: </a:t>
            </a:r>
            <a:r>
              <a:rPr lang="en-IN" dirty="0" smtClean="0"/>
              <a:t>Now a days  </a:t>
            </a:r>
            <a:r>
              <a:rPr lang="en-IN" dirty="0"/>
              <a:t>basic necessities are becoming </a:t>
            </a:r>
            <a:r>
              <a:rPr lang="en-IN" dirty="0" smtClean="0"/>
              <a:t>expensive, villages are also not exclusive.   In cities for </a:t>
            </a:r>
            <a:r>
              <a:rPr lang="en-IN" dirty="0"/>
              <a:t>someone earning a basic salary, </a:t>
            </a:r>
            <a:r>
              <a:rPr lang="en-IN" dirty="0" smtClean="0"/>
              <a:t>struggling hard to meet both the ends of the day.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 smtClean="0"/>
              <a:t>Need </a:t>
            </a:r>
            <a:r>
              <a:rPr lang="en-US" b="1" dirty="0"/>
              <a:t>for Inclusive and Real </a:t>
            </a:r>
            <a:r>
              <a:rPr lang="en-US" b="1" dirty="0" smtClean="0"/>
              <a:t>Empowerment: </a:t>
            </a:r>
            <a:r>
              <a:rPr lang="en-IN" dirty="0" smtClean="0"/>
              <a:t> Common man should be </a:t>
            </a:r>
            <a:r>
              <a:rPr lang="en-IN" dirty="0" smtClean="0"/>
              <a:t>Educated to </a:t>
            </a:r>
            <a:r>
              <a:rPr lang="en-IN" dirty="0" smtClean="0"/>
              <a:t>buy or  </a:t>
            </a:r>
            <a:r>
              <a:rPr lang="en-IN" dirty="0"/>
              <a:t>sell swadeshi </a:t>
            </a:r>
            <a:r>
              <a:rPr lang="en-IN" dirty="0" smtClean="0"/>
              <a:t> goods via </a:t>
            </a:r>
            <a:r>
              <a:rPr lang="en-IN" dirty="0"/>
              <a:t>online </a:t>
            </a:r>
            <a:r>
              <a:rPr lang="en-IN" dirty="0" smtClean="0"/>
              <a:t>or in the open market whichever is more feasible . </a:t>
            </a:r>
            <a:endParaRPr lang="en-IN" dirty="0" smtClean="0"/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3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219200"/>
            <a:ext cx="914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 smtClean="0"/>
              <a:t>6.    Farmers </a:t>
            </a:r>
            <a:r>
              <a:rPr lang="en-IN" b="1" dirty="0"/>
              <a:t>Without Market </a:t>
            </a:r>
            <a:r>
              <a:rPr lang="en-IN" b="1" dirty="0" smtClean="0"/>
              <a:t>Support : </a:t>
            </a:r>
            <a:r>
              <a:rPr lang="en-IN" dirty="0"/>
              <a:t>We proudly say India is land of </a:t>
            </a:r>
            <a:r>
              <a:rPr lang="en-IN" dirty="0" smtClean="0"/>
              <a:t>agriculture, </a:t>
            </a:r>
            <a:r>
              <a:rPr lang="en-IN" dirty="0" smtClean="0"/>
              <a:t>we must concentrate on much </a:t>
            </a:r>
            <a:r>
              <a:rPr lang="en-IN" dirty="0" smtClean="0"/>
              <a:t>more integrated approach to minimise the burden on farmers to sell their  </a:t>
            </a:r>
            <a:r>
              <a:rPr lang="en-IN" dirty="0"/>
              <a:t>grown products is markets </a:t>
            </a:r>
            <a:r>
              <a:rPr lang="en-IN" dirty="0" smtClean="0"/>
              <a:t>easily.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lvl="0"/>
            <a:r>
              <a:rPr lang="en-IN" b="1" dirty="0" smtClean="0"/>
              <a:t>7.    Digital </a:t>
            </a:r>
            <a:r>
              <a:rPr lang="en-IN" b="1" dirty="0"/>
              <a:t>Barriers for Farmers: </a:t>
            </a:r>
            <a:r>
              <a:rPr lang="en-IN" b="1" dirty="0" smtClean="0"/>
              <a:t>Our </a:t>
            </a:r>
            <a:r>
              <a:rPr lang="en-IN" dirty="0" smtClean="0"/>
              <a:t> farmers should be more educated to use the  </a:t>
            </a:r>
            <a:r>
              <a:rPr lang="en-IN" dirty="0" err="1" smtClean="0"/>
              <a:t>availalble</a:t>
            </a:r>
            <a:r>
              <a:rPr lang="en-IN" dirty="0" smtClean="0"/>
              <a:t> programmes and  </a:t>
            </a:r>
            <a:r>
              <a:rPr lang="en-IN" dirty="0"/>
              <a:t>website </a:t>
            </a:r>
            <a:r>
              <a:rPr lang="en-IN" dirty="0" smtClean="0"/>
              <a:t>to </a:t>
            </a:r>
            <a:r>
              <a:rPr lang="en-IN" dirty="0"/>
              <a:t>promote </a:t>
            </a:r>
            <a:r>
              <a:rPr lang="en-IN" dirty="0" smtClean="0"/>
              <a:t>their products easily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451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30362"/>
          </a:xfrm>
        </p:spPr>
        <p:txBody>
          <a:bodyPr/>
          <a:lstStyle/>
          <a:p>
            <a:pPr algn="ctr"/>
            <a:r>
              <a:rPr lang="en-US" sz="2400" i="1" dirty="0">
                <a:solidFill>
                  <a:schemeClr val="tx1">
                    <a:tint val="75000"/>
                  </a:schemeClr>
                </a:solidFill>
              </a:rPr>
              <a:t>Probability of </a:t>
            </a:r>
            <a:r>
              <a:rPr lang="en-US" sz="2400" i="1" dirty="0" smtClean="0">
                <a:solidFill>
                  <a:schemeClr val="tx1">
                    <a:tint val="75000"/>
                  </a:schemeClr>
                </a:solidFill>
              </a:rPr>
              <a:t>RISK AND Impact  of selling other than swadeshi goods</a:t>
            </a:r>
            <a:endParaRPr lang="en-IN" sz="2400" i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6764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Influence through Offers</a:t>
            </a:r>
            <a:r>
              <a:rPr lang="en-IN" dirty="0"/>
              <a:t> – Companies, private organizations, </a:t>
            </a:r>
            <a:r>
              <a:rPr lang="en-IN" dirty="0" smtClean="0"/>
              <a:t>or </a:t>
            </a:r>
            <a:r>
              <a:rPr lang="en-IN" dirty="0"/>
              <a:t>NGOs may provide giveaways and brand-based offers, indirectly promoting </a:t>
            </a:r>
            <a:r>
              <a:rPr lang="en-IN" dirty="0" smtClean="0"/>
              <a:t>videshi goods and </a:t>
            </a:r>
            <a:r>
              <a:rPr lang="en-IN" dirty="0" smtClean="0"/>
              <a:t> move to change lifestyle </a:t>
            </a:r>
            <a:r>
              <a:rPr lang="en-IN" dirty="0"/>
              <a:t>among Gen Z</a:t>
            </a:r>
            <a:r>
              <a:rPr lang="en-IN" dirty="0" smtClean="0"/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r>
              <a:rPr lang="en-IN" dirty="0" smtClean="0"/>
              <a:t>	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0" y="2514600"/>
            <a:ext cx="9144000" cy="31393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lvl="0" indent="-342900">
              <a:buAutoNum type="arabicPeriod" startAt="2"/>
            </a:pPr>
            <a:r>
              <a:rPr lang="en-IN" b="1" dirty="0" smtClean="0"/>
              <a:t>Shift </a:t>
            </a:r>
            <a:r>
              <a:rPr lang="en-IN" b="1" dirty="0"/>
              <a:t>in Brand Loyalty</a:t>
            </a:r>
            <a:r>
              <a:rPr lang="en-IN" dirty="0"/>
              <a:t> – Gen Z may become </a:t>
            </a:r>
            <a:r>
              <a:rPr lang="en-IN" dirty="0" smtClean="0"/>
              <a:t>more interested  </a:t>
            </a:r>
            <a:r>
              <a:rPr lang="en-IN" dirty="0"/>
              <a:t>to online/global brands due to frequent promotional </a:t>
            </a:r>
            <a:r>
              <a:rPr lang="en-IN" dirty="0" smtClean="0"/>
              <a:t>campaigns</a:t>
            </a:r>
            <a:r>
              <a:rPr lang="en-IN" dirty="0"/>
              <a:t>, weakening attachment </a:t>
            </a:r>
            <a:r>
              <a:rPr lang="en-IN" dirty="0" smtClean="0"/>
              <a:t>to the swadeshi or  </a:t>
            </a:r>
            <a:r>
              <a:rPr lang="en-IN" dirty="0"/>
              <a:t>local stores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pPr lvl="0"/>
            <a:r>
              <a:rPr lang="en-IN" b="1" dirty="0" smtClean="0"/>
              <a:t>3.   </a:t>
            </a:r>
            <a:r>
              <a:rPr lang="en-IN" b="1" dirty="0"/>
              <a:t>Cultural Erosion Risk</a:t>
            </a:r>
            <a:r>
              <a:rPr lang="en-IN" dirty="0"/>
              <a:t> – Discounts and identity-based campaigns may push Indian youth </a:t>
            </a:r>
            <a:r>
              <a:rPr lang="en-IN" dirty="0" smtClean="0"/>
              <a:t>towards </a:t>
            </a:r>
          </a:p>
          <a:p>
            <a:r>
              <a:rPr lang="en-IN" dirty="0" smtClean="0"/>
              <a:t>       westernized product </a:t>
            </a:r>
            <a:r>
              <a:rPr lang="en-IN" dirty="0"/>
              <a:t>consumption, reducing demand for Swadeshi</a:t>
            </a:r>
            <a:r>
              <a:rPr lang="en-IN" dirty="0" smtClean="0"/>
              <a:t>/ local </a:t>
            </a:r>
            <a:r>
              <a:rPr lang="en-IN" dirty="0"/>
              <a:t>products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pPr lvl="0"/>
            <a:r>
              <a:rPr lang="en-IN" b="1" dirty="0" smtClean="0"/>
              <a:t>4.    Behavioural </a:t>
            </a:r>
            <a:r>
              <a:rPr lang="en-IN" b="1" dirty="0"/>
              <a:t>Change in Spending</a:t>
            </a:r>
            <a:r>
              <a:rPr lang="en-IN" dirty="0"/>
              <a:t> – Gen Z may prioritize global trends and social </a:t>
            </a:r>
            <a:r>
              <a:rPr lang="en-IN" dirty="0" smtClean="0"/>
              <a:t>media-driven </a:t>
            </a:r>
            <a:endParaRPr lang="en-IN" dirty="0"/>
          </a:p>
          <a:p>
            <a:r>
              <a:rPr lang="en-IN" dirty="0" smtClean="0"/>
              <a:t>       </a:t>
            </a:r>
            <a:r>
              <a:rPr lang="en-IN" dirty="0"/>
              <a:t>purchases </a:t>
            </a:r>
            <a:r>
              <a:rPr lang="en-IN" dirty="0" smtClean="0"/>
              <a:t>even though more </a:t>
            </a:r>
            <a:r>
              <a:rPr lang="en-IN" dirty="0" smtClean="0"/>
              <a:t>expensive </a:t>
            </a:r>
            <a:r>
              <a:rPr lang="en-IN" dirty="0" smtClean="0"/>
              <a:t>, </a:t>
            </a:r>
            <a:r>
              <a:rPr lang="en-IN" dirty="0"/>
              <a:t>creating long-term shifts in buying </a:t>
            </a:r>
            <a:r>
              <a:rPr lang="en-IN" dirty="0" smtClean="0"/>
              <a:t>behaviour that may affect    </a:t>
            </a:r>
          </a:p>
          <a:p>
            <a:pPr lvl="0"/>
            <a:r>
              <a:rPr lang="en-IN" dirty="0"/>
              <a:t> </a:t>
            </a:r>
            <a:r>
              <a:rPr lang="en-IN" dirty="0" smtClean="0"/>
              <a:t>      </a:t>
            </a:r>
            <a:r>
              <a:rPr lang="en-IN" dirty="0"/>
              <a:t>the market. This indirect messaging </a:t>
            </a:r>
            <a:r>
              <a:rPr lang="en-IN" dirty="0" smtClean="0"/>
              <a:t> and marketing strategy may have </a:t>
            </a:r>
            <a:r>
              <a:rPr lang="en-IN" dirty="0"/>
              <a:t>influence their values, identity, </a:t>
            </a:r>
            <a:endParaRPr lang="en-IN" dirty="0" smtClean="0"/>
          </a:p>
          <a:p>
            <a:pPr lvl="0"/>
            <a:r>
              <a:rPr lang="en-IN" dirty="0"/>
              <a:t> </a:t>
            </a:r>
            <a:r>
              <a:rPr lang="en-IN" dirty="0" smtClean="0"/>
              <a:t>      and </a:t>
            </a:r>
            <a:r>
              <a:rPr lang="en-IN" dirty="0"/>
              <a:t>lifestyle </a:t>
            </a:r>
            <a:r>
              <a:rPr lang="en-IN" dirty="0" smtClean="0"/>
              <a:t>preferences. Hence </a:t>
            </a:r>
            <a:r>
              <a:rPr lang="en-IN" dirty="0" smtClean="0"/>
              <a:t>the need of promoting  for swadeshi is the need of the hour. </a:t>
            </a:r>
            <a:endParaRPr lang="en-IN" dirty="0"/>
          </a:p>
          <a:p>
            <a:pPr lvl="0"/>
            <a:r>
              <a:rPr lang="en-IN" dirty="0" smtClean="0"/>
              <a:t>                                                                               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0570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/>
            <a:r>
              <a:rPr lang="en-US" sz="3600" i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Advantage of bringing </a:t>
            </a:r>
            <a:r>
              <a:rPr lang="en-US" sz="3600" i="1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Local Market into Online </a:t>
            </a:r>
            <a:endParaRPr lang="en-IN" sz="3600" i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914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Dependence on Foreign Digital </a:t>
            </a:r>
            <a:r>
              <a:rPr lang="en-US" b="1" dirty="0" smtClean="0"/>
              <a:t>Marketplaces will be minimized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 smtClean="0"/>
              <a:t> we can identify </a:t>
            </a:r>
            <a:r>
              <a:rPr lang="en-IN" dirty="0"/>
              <a:t>entrepreneurs who can supply organic staple foods directly from farmers to consumers on a </a:t>
            </a:r>
            <a:r>
              <a:rPr lang="en-IN" dirty="0" smtClean="0"/>
              <a:t>state-wise regular basis.</a:t>
            </a:r>
            <a:endParaRPr lang="en-IN" dirty="0" smtClean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 smtClean="0"/>
              <a:t>We can focus on Centralized </a:t>
            </a:r>
            <a:r>
              <a:rPr lang="en-US" b="1" dirty="0"/>
              <a:t>Digitalization Over Local </a:t>
            </a:r>
            <a:r>
              <a:rPr lang="en-US" b="1" dirty="0" smtClean="0"/>
              <a:t>Markets: </a:t>
            </a:r>
            <a:r>
              <a:rPr lang="en-IN" dirty="0"/>
              <a:t> </a:t>
            </a:r>
          </a:p>
          <a:p>
            <a:pPr marL="342900" lvl="0" indent="-342900">
              <a:buAutoNum type="arabicPeriod" startAt="4"/>
            </a:pPr>
            <a:r>
              <a:rPr lang="en-US" b="1" dirty="0" smtClean="0"/>
              <a:t>We can provide </a:t>
            </a:r>
            <a:r>
              <a:rPr lang="en-US" b="1" dirty="0"/>
              <a:t>Digital Platforms for Traditional </a:t>
            </a:r>
            <a:r>
              <a:rPr lang="en-US" b="1" dirty="0" smtClean="0"/>
              <a:t>market </a:t>
            </a:r>
            <a:r>
              <a:rPr lang="en-US" b="1" dirty="0" smtClean="0"/>
              <a:t> </a:t>
            </a:r>
            <a:r>
              <a:rPr lang="en-IN" dirty="0" smtClean="0"/>
              <a:t>for  </a:t>
            </a:r>
            <a:r>
              <a:rPr lang="en-IN" dirty="0"/>
              <a:t>every Lineage-based </a:t>
            </a:r>
            <a:r>
              <a:rPr lang="en-IN" dirty="0" smtClean="0"/>
              <a:t>goods  at   </a:t>
            </a:r>
          </a:p>
          <a:p>
            <a:pPr lvl="0"/>
            <a:r>
              <a:rPr lang="en-IN" dirty="0" smtClean="0"/>
              <a:t>       Village</a:t>
            </a:r>
            <a:r>
              <a:rPr lang="en-IN" dirty="0"/>
              <a:t>, Taluk and </a:t>
            </a:r>
            <a:r>
              <a:rPr lang="en-IN" dirty="0" smtClean="0"/>
              <a:t>District levels.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0053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AutoNum type="arabicPeriod" startAt="5"/>
            </a:pPr>
            <a:r>
              <a:rPr lang="en-US" b="1" dirty="0" smtClean="0"/>
              <a:t>Exporting </a:t>
            </a:r>
            <a:r>
              <a:rPr lang="en-US" b="1" dirty="0"/>
              <a:t>Raw, Importing Finished Goods: </a:t>
            </a:r>
            <a:r>
              <a:rPr lang="en-IN" dirty="0"/>
              <a:t>Why we are importing, marketing and supplying the  </a:t>
            </a:r>
            <a:endParaRPr lang="en-IN" dirty="0" smtClean="0"/>
          </a:p>
          <a:p>
            <a:r>
              <a:rPr lang="en-IN" dirty="0"/>
              <a:t> </a:t>
            </a:r>
            <a:r>
              <a:rPr lang="en-IN" dirty="0" smtClean="0"/>
              <a:t>      </a:t>
            </a:r>
            <a:r>
              <a:rPr lang="en-IN" dirty="0"/>
              <a:t>finish products from the abroad or from foreign invested company where most of the raw materials </a:t>
            </a:r>
            <a:r>
              <a:rPr lang="en-IN" dirty="0" smtClean="0"/>
              <a:t>are</a:t>
            </a:r>
          </a:p>
          <a:p>
            <a:r>
              <a:rPr lang="en-IN" dirty="0"/>
              <a:t> </a:t>
            </a:r>
            <a:r>
              <a:rPr lang="en-IN" dirty="0" smtClean="0"/>
              <a:t>      </a:t>
            </a:r>
            <a:r>
              <a:rPr lang="en-IN" dirty="0"/>
              <a:t>supplied from Indian Soil.</a:t>
            </a:r>
          </a:p>
          <a:p>
            <a:endParaRPr lang="en-IN" dirty="0"/>
          </a:p>
          <a:p>
            <a:pPr marL="342900" lvl="0" indent="-342900">
              <a:buAutoNum type="arabicPeriod" startAt="6"/>
            </a:pPr>
            <a:r>
              <a:rPr lang="en-US" b="1" dirty="0" smtClean="0"/>
              <a:t>Underutilization </a:t>
            </a:r>
            <a:r>
              <a:rPr lang="en-US" b="1" dirty="0"/>
              <a:t>of India’s Own Market Strength: </a:t>
            </a:r>
            <a:r>
              <a:rPr lang="en-IN" dirty="0"/>
              <a:t>Why are we not utilizing our own Indian market, </a:t>
            </a:r>
            <a:endParaRPr lang="en-IN" dirty="0" smtClean="0"/>
          </a:p>
          <a:p>
            <a:r>
              <a:rPr lang="en-IN" dirty="0" smtClean="0"/>
              <a:t>       </a:t>
            </a:r>
            <a:r>
              <a:rPr lang="en-IN" dirty="0"/>
              <a:t>even though we have a very large market and strong supply chain, while Western countries are </a:t>
            </a:r>
            <a:r>
              <a:rPr lang="en-IN" dirty="0" smtClean="0"/>
              <a:t>taking</a:t>
            </a:r>
          </a:p>
          <a:p>
            <a:r>
              <a:rPr lang="en-IN" dirty="0"/>
              <a:t> </a:t>
            </a:r>
            <a:r>
              <a:rPr lang="en-IN" dirty="0" smtClean="0"/>
              <a:t>      </a:t>
            </a:r>
            <a:r>
              <a:rPr lang="en-IN" dirty="0"/>
              <a:t>advantage of it?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767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667000"/>
            <a:ext cx="7924800" cy="1143000"/>
          </a:xfrm>
        </p:spPr>
        <p:txBody>
          <a:bodyPr/>
          <a:lstStyle/>
          <a:p>
            <a:pPr algn="ctr"/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483694" y="2133600"/>
            <a:ext cx="422423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i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Solution</a:t>
            </a:r>
            <a:endParaRPr lang="en-IN" sz="9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4408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924800" cy="1417638"/>
          </a:xfrm>
        </p:spPr>
        <p:txBody>
          <a:bodyPr/>
          <a:lstStyle/>
          <a:p>
            <a:r>
              <a:rPr lang="en-US" sz="3600" i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3600" i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3600" i="1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3600" i="1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3600" i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3600" i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3600" i="1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3600" i="1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3600" i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3600" i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3600" i="1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3600" i="1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3200" i="1" dirty="0" smtClean="0">
                <a:solidFill>
                  <a:schemeClr val="tx1">
                    <a:tint val="75000"/>
                  </a:schemeClr>
                </a:solidFill>
              </a:rPr>
              <a:t>Concise </a:t>
            </a:r>
            <a:r>
              <a:rPr lang="en-US" sz="3200" i="1" dirty="0">
                <a:solidFill>
                  <a:schemeClr val="tx1">
                    <a:tint val="75000"/>
                  </a:schemeClr>
                </a:solidFill>
              </a:rPr>
              <a:t>list of </a:t>
            </a:r>
            <a:r>
              <a:rPr lang="en-US" sz="3200" i="1" dirty="0" smtClean="0">
                <a:solidFill>
                  <a:schemeClr val="tx1">
                    <a:tint val="75000"/>
                  </a:schemeClr>
                </a:solidFill>
              </a:rPr>
              <a:t>10 primary focus industries to bring online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143000"/>
            <a:ext cx="914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dirty="0" smtClean="0"/>
              <a:t>Agriculture                                                               6.     Textiles </a:t>
            </a:r>
            <a:r>
              <a:rPr lang="en-IN" dirty="0"/>
              <a:t>&amp; Handlooms </a:t>
            </a:r>
            <a:endParaRPr lang="en-IN" dirty="0" smtClean="0"/>
          </a:p>
          <a:p>
            <a:pPr marL="342900" lvl="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Food </a:t>
            </a:r>
            <a:r>
              <a:rPr lang="en-IN" dirty="0" smtClean="0"/>
              <a:t>Processing                                                     7.     Cosmetics </a:t>
            </a:r>
            <a:r>
              <a:rPr lang="en-IN" dirty="0"/>
              <a:t>&amp; Personal Care </a:t>
            </a:r>
            <a:r>
              <a:rPr lang="en-IN" dirty="0" smtClean="0"/>
              <a:t>                                                   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Beverages </a:t>
            </a:r>
            <a:r>
              <a:rPr lang="en-IN" dirty="0" smtClean="0"/>
              <a:t>                                                              8.     Electronics                                                     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Home </a:t>
            </a:r>
            <a:r>
              <a:rPr lang="en-IN" dirty="0" smtClean="0"/>
              <a:t>made                                                             9.     </a:t>
            </a:r>
            <a:r>
              <a:rPr lang="en-IN" dirty="0"/>
              <a:t>Automobile &amp; Electric Vehicles </a:t>
            </a:r>
            <a:endParaRPr lang="en-IN" dirty="0" smtClean="0"/>
          </a:p>
          <a:p>
            <a:pPr marL="342900" lvl="0" indent="-342900" algn="just">
              <a:buFont typeface="+mj-lt"/>
              <a:buAutoNum type="arabicPeriod"/>
            </a:pPr>
            <a:endParaRPr lang="en-IN" dirty="0"/>
          </a:p>
          <a:p>
            <a:pPr marL="342900" indent="-342900" algn="just">
              <a:buFont typeface="+mj-lt"/>
              <a:buAutoNum type="arabicPeriod"/>
            </a:pPr>
            <a:r>
              <a:rPr lang="en-IN" dirty="0"/>
              <a:t>Ayurvedic </a:t>
            </a:r>
            <a:r>
              <a:rPr lang="en-IN" dirty="0" smtClean="0"/>
              <a:t>                                                               10.    Pharmaceuticals </a:t>
            </a:r>
            <a:r>
              <a:rPr lang="en-IN" dirty="0"/>
              <a:t>&amp; Healthcare </a:t>
            </a:r>
          </a:p>
          <a:p>
            <a:pPr lvl="0" algn="just"/>
            <a:endParaRPr lang="en-IN" dirty="0" smtClean="0"/>
          </a:p>
          <a:p>
            <a:pPr lvl="0" algn="just"/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665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dirty="0"/>
              <a:t>Our aim is not just to create jobs; it is to create </a:t>
            </a:r>
            <a:r>
              <a:rPr lang="en-IN" dirty="0" smtClean="0"/>
              <a:t>opportunities. </a:t>
            </a:r>
            <a:r>
              <a:rPr lang="en-IN" dirty="0"/>
              <a:t>Capable entrepreneurs will, in turn, create jobs. </a:t>
            </a:r>
            <a:endParaRPr lang="en-IN" dirty="0" smtClean="0"/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Any person who has a GST number should be eligible to start any kind of business—whether it is a roadside cart, </a:t>
            </a:r>
            <a:r>
              <a:rPr lang="en-IN" dirty="0" smtClean="0"/>
              <a:t> Any homemade </a:t>
            </a:r>
            <a:r>
              <a:rPr lang="en-IN" dirty="0"/>
              <a:t>products (decorative items, food, masala, etc.), a petty shop, a </a:t>
            </a:r>
            <a:r>
              <a:rPr lang="en-IN" dirty="0" err="1"/>
              <a:t>kirana</a:t>
            </a:r>
            <a:r>
              <a:rPr lang="en-IN" dirty="0"/>
              <a:t> store, or any type of local store commonly seen in </a:t>
            </a:r>
            <a:r>
              <a:rPr lang="en-IN" dirty="0" smtClean="0"/>
              <a:t>India. For that  one complete </a:t>
            </a:r>
            <a:r>
              <a:rPr lang="en-IN" dirty="0"/>
              <a:t>dedicated website </a:t>
            </a:r>
            <a:r>
              <a:rPr lang="en-IN" dirty="0" smtClean="0"/>
              <a:t>to be provided to upload and sale </a:t>
            </a:r>
            <a:r>
              <a:rPr lang="en-IN" dirty="0"/>
              <a:t>there products </a:t>
            </a:r>
            <a:r>
              <a:rPr lang="en-IN" dirty="0" smtClean="0"/>
              <a:t>online.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Along with improving local market we need to improve our culture, </a:t>
            </a:r>
            <a:r>
              <a:rPr lang="en-IN" dirty="0" smtClean="0"/>
              <a:t>tradition</a:t>
            </a:r>
            <a:r>
              <a:rPr lang="en-IN" dirty="0" smtClean="0"/>
              <a:t>al values.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Indian </a:t>
            </a:r>
            <a:r>
              <a:rPr lang="en-US" dirty="0" smtClean="0"/>
              <a:t>natural </a:t>
            </a:r>
            <a:r>
              <a:rPr lang="en-US" dirty="0"/>
              <a:t>“Homemade products” or “Ingredients” should be made popular as branded ones and </a:t>
            </a:r>
            <a:r>
              <a:rPr lang="en-US" dirty="0" smtClean="0"/>
              <a:t> made available </a:t>
            </a:r>
            <a:r>
              <a:rPr lang="en-US" dirty="0"/>
              <a:t>on online</a:t>
            </a:r>
            <a:r>
              <a:rPr lang="en-US" dirty="0" smtClean="0"/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smtClean="0"/>
              <a:t> Even the roadside </a:t>
            </a:r>
            <a:r>
              <a:rPr lang="en-US" dirty="0"/>
              <a:t>vegetable sellers or street side food sellers should have an option to sell the products online. </a:t>
            </a:r>
            <a:endParaRPr lang="en-US" dirty="0" smtClean="0"/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We need to </a:t>
            </a:r>
            <a:r>
              <a:rPr lang="en-IN" dirty="0" smtClean="0"/>
              <a:t>familiarize our own apps and social media programmes to promote </a:t>
            </a:r>
            <a:r>
              <a:rPr lang="en-IN" dirty="0"/>
              <a:t>local shops and markets, enabling people to easily search for and order local products.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899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304630"/>
              </p:ext>
            </p:extLst>
          </p:nvPr>
        </p:nvGraphicFramePr>
        <p:xfrm>
          <a:off x="0" y="-4"/>
          <a:ext cx="9143999" cy="6858003"/>
        </p:xfrm>
        <a:graphic>
          <a:graphicData uri="http://schemas.openxmlformats.org/drawingml/2006/table">
            <a:tbl>
              <a:tblPr firstRow="1" firstCol="1" bandRow="1"/>
              <a:tblGrid>
                <a:gridCol w="528338"/>
                <a:gridCol w="4066418"/>
                <a:gridCol w="4549243"/>
              </a:tblGrid>
              <a:tr h="505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n-IN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Online Store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Local Store Online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Do not have direct contact with vendors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Have direct contact with vendors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0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Manufacture and Expiry date can be seen only after product is received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Manufacture and Expiry date can be seen before purchasing the product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11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Product rate will be kept on fluctuating for new and old stock without any reason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Product rate will not be fluctuating for old stock and for new stock price will be increased with a reason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0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Doesn’t know from where product is shipped from i.e no proper point of contact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User will be known from where product is shipped and proper point of contact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Malpractice may be done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Cannot do malpractice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0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Customer should wait for delivery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Customer can request the local store to deliver as per the requirement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0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Tax and Business is for foreign investors and traders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Will help the middle and low class family to earn income and tax will be circulated with in India.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0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User cannot see the products before purchase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User can see the product before purchase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User cannot check the quality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User can check the quality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686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131813"/>
              </p:ext>
            </p:extLst>
          </p:nvPr>
        </p:nvGraphicFramePr>
        <p:xfrm>
          <a:off x="1" y="-5767"/>
          <a:ext cx="9143999" cy="6927590"/>
        </p:xfrm>
        <a:graphic>
          <a:graphicData uri="http://schemas.openxmlformats.org/drawingml/2006/table">
            <a:tbl>
              <a:tblPr firstRow="1" firstCol="1" bandRow="1"/>
              <a:tblGrid>
                <a:gridCol w="528338"/>
                <a:gridCol w="4066418"/>
                <a:gridCol w="4549243"/>
              </a:tblGrid>
              <a:tr h="4857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  <a:endParaRPr lang="en-IN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Online Store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Local Store Online</a:t>
                      </a:r>
                      <a:endParaRPr lang="en-IN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Returning the product is difficulty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Returning the product is easy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3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Courier person is unknown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Courier person is known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5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Negotiation cannot be done not even a Rs.1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Negotiation can be done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3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Indian government cannot request the shopping mart to sell the products as required by Indian economy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Indian government can request the local shop to sell the products as required by Indian economy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7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14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Indian products are shown as cheap and low quality even if it is the quality is best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Can promote the Indian brand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3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15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Indian should work as 9:00AM to 6:00PM employee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Indian can be the owner of his shop or create his own brand by promoting his own local shop or products.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3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16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No customer and owner belief relationship even if 100 time user have ordered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Will definitely have customer and owner belief relationship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3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17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Customer is customer. She/he </a:t>
                      </a:r>
                      <a:r>
                        <a:rPr lang="en-IN" sz="16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cannot </a:t>
                      </a:r>
                      <a:r>
                        <a:rPr lang="en-IN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check the quality, quantity, demand for cost etc…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Customer is king. She/he can check the quality, quantity, demand for cost etc…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IN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  <a:latin typeface="Calibri"/>
                          <a:ea typeface="Calibri"/>
                          <a:cs typeface="Times New Roman"/>
                        </a:rPr>
                        <a:t>Every time it’s a business no humanity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Humanity is major than business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913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85800"/>
            <a:ext cx="8458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>
                <a:solidFill>
                  <a:srgbClr val="FF0000"/>
                </a:solidFill>
              </a:rPr>
              <a:t>If we Indian’s did not plan to bring the local market into online then every Indian brand replica will be manufacture by the foreign Investor and Every online </a:t>
            </a:r>
            <a:r>
              <a:rPr lang="en-IN" sz="3200" dirty="0">
                <a:solidFill>
                  <a:srgbClr val="FF0000"/>
                </a:solidFill>
              </a:rPr>
              <a:t>store e-commerce </a:t>
            </a:r>
            <a:r>
              <a:rPr lang="en-IN" sz="3200" dirty="0" smtClean="0">
                <a:solidFill>
                  <a:srgbClr val="FF0000"/>
                </a:solidFill>
              </a:rPr>
              <a:t>application will be converted into Shopping </a:t>
            </a:r>
            <a:r>
              <a:rPr lang="en-IN" sz="3200" dirty="0">
                <a:solidFill>
                  <a:srgbClr val="FF0000"/>
                </a:solidFill>
              </a:rPr>
              <a:t>M</a:t>
            </a:r>
            <a:r>
              <a:rPr lang="en-IN" sz="3200" dirty="0" smtClean="0">
                <a:solidFill>
                  <a:srgbClr val="FF0000"/>
                </a:solidFill>
              </a:rPr>
              <a:t>art by 2035</a:t>
            </a:r>
          </a:p>
          <a:p>
            <a:endParaRPr lang="en-IN" sz="3200" dirty="0">
              <a:solidFill>
                <a:srgbClr val="FF0000"/>
              </a:solidFill>
            </a:endParaRPr>
          </a:p>
          <a:p>
            <a:r>
              <a:rPr lang="en-IN" sz="3200" dirty="0" smtClean="0">
                <a:solidFill>
                  <a:srgbClr val="FFFF00"/>
                </a:solidFill>
              </a:rPr>
              <a:t>We have to ensure that </a:t>
            </a:r>
            <a:r>
              <a:rPr lang="en-IN" sz="3200" dirty="0">
                <a:solidFill>
                  <a:srgbClr val="FFFF00"/>
                </a:solidFill>
              </a:rPr>
              <a:t>foreign investor </a:t>
            </a:r>
            <a:r>
              <a:rPr lang="en-IN" sz="3200" dirty="0" smtClean="0">
                <a:solidFill>
                  <a:srgbClr val="FFFF00"/>
                </a:solidFill>
              </a:rPr>
              <a:t>e-commerce website should be acting as secondary resource to purchase not as primary one. Primary should be our Local Market</a:t>
            </a:r>
          </a:p>
        </p:txBody>
      </p:sp>
    </p:spTree>
    <p:extLst>
      <p:ext uri="{BB962C8B-B14F-4D97-AF65-F5344CB8AC3E}">
        <p14:creationId xmlns:p14="http://schemas.microsoft.com/office/powerpoint/2010/main" val="3806434180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624</TotalTime>
  <Words>1381</Words>
  <Application>Microsoft Office PowerPoint</Application>
  <PresentationFormat>On-screen Show (4:3)</PresentationFormat>
  <Paragraphs>154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Horizon</vt:lpstr>
      <vt:lpstr>PowerPoint Presentation</vt:lpstr>
      <vt:lpstr>Important to bring Local Market into digitization  </vt:lpstr>
      <vt:lpstr>PowerPoint Presentation</vt:lpstr>
      <vt:lpstr>India knowN for</vt:lpstr>
      <vt:lpstr>SWADESHI AND encouragement </vt:lpstr>
      <vt:lpstr>PowerPoint Presentation</vt:lpstr>
      <vt:lpstr>Probability of RISK AND Impact  of selling other than swadeshi goods</vt:lpstr>
      <vt:lpstr>Advantage of bringing Local Market into Online </vt:lpstr>
      <vt:lpstr>PowerPoint Presentation</vt:lpstr>
      <vt:lpstr> </vt:lpstr>
      <vt:lpstr>      Concise list of 10 primary focus industries to bring online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Important to bring Local Market into digitization</dc:title>
  <dc:creator>Dell</dc:creator>
  <cp:lastModifiedBy>Dr. Ganapathi V S</cp:lastModifiedBy>
  <cp:revision>89</cp:revision>
  <dcterms:created xsi:type="dcterms:W3CDTF">2006-08-16T00:00:00Z</dcterms:created>
  <dcterms:modified xsi:type="dcterms:W3CDTF">2026-03-19T08:16:14Z</dcterms:modified>
</cp:coreProperties>
</file>